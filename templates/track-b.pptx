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8D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4696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0932F83-212C-4972-4344-DA15196196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072" y="0"/>
            <a:ext cx="12181855" cy="68615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A277A4-F086-2847-76BD-96845EA099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4641"/>
            <a:ext cx="12183756" cy="68626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C7D6112-D4FE-A744-DBD4-3DC306D56BA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071" y="0"/>
            <a:ext cx="12181855" cy="686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903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FC56EC-700F-AC22-3295-205423204F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4641"/>
            <a:ext cx="12183756" cy="686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818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8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94360"/>
            <a:ext cx="1005840" cy="265176"/>
          </a:xfrm>
          <a:prstGeom prst="roundRect">
            <a:avLst>
              <a:gd name="adj" fmla="val 17241"/>
            </a:avLst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9509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المسار ٠٢</a:t>
            </a:r>
            <a:endParaRPr lang="en-US" sz="720" dirty="0"/>
          </a:p>
        </p:txBody>
      </p:sp>
      <p:sp>
        <p:nvSpPr>
          <p:cNvPr id="4" name="Text 2"/>
          <p:cNvSpPr/>
          <p:nvPr/>
        </p:nvSpPr>
        <p:spPr>
          <a:xfrm>
            <a:off x="2788920" y="132588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نموذج التقرير اليومي – التواصل والتسويق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88920" y="21488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50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مشروع افتتاح حدائق الملك عبدالله العالمية</a:t>
            </a:r>
            <a:endParaRPr lang="en-US" sz="15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362178" y="2400301"/>
            <a:ext cx="80924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128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يومياً من مسؤول المسار إلى مدير مكتب إدارة المشروع لاستخدامه في إعداد التقرير اليومي الشامل.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4507992" y="2939796"/>
            <a:ext cx="6967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نطاق تعبئة مسؤول المسار</a:t>
            </a:r>
            <a:endParaRPr lang="en-US" sz="101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7944" y="3201206"/>
            <a:ext cx="696772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5030506" y="3270592"/>
            <a:ext cx="6446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20" dirty="0">
                <a:solidFill>
                  <a:schemeClr val="accent4">
                    <a:lumMod val="7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الخطة الإعلامية، التغطية، التوثيق، الرسائل الإعلامية، المركز الإعلامي، المحتوى وإدارة الأزمات</a:t>
            </a:r>
            <a:endParaRPr lang="en-US" sz="92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يومي لمسار التواصل والتسويق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حالة المسار اليوم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262432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8686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961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أخضر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5544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5819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أصفر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2240280" y="1417320"/>
            <a:ext cx="594360" cy="265176"/>
          </a:xfrm>
          <a:prstGeom prst="roundRect">
            <a:avLst>
              <a:gd name="adj" fmla="val 17241"/>
            </a:avLst>
          </a:prstGeom>
          <a:solidFill>
            <a:srgbClr val="D64D3F"/>
          </a:solidFill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267712" y="1481328"/>
            <a:ext cx="5394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أحمر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804672" y="1828800"/>
            <a:ext cx="2057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المختارة: أخضر/أصفر/أحمر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إنجاز اليوم: ٪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3739896" y="107899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ملخص الإنجاز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3739896" y="1353312"/>
            <a:ext cx="353872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3913632" y="1389888"/>
            <a:ext cx="301752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 إنجاز رئيسي ١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 إنجاز رئيسي ٢</a:t>
            </a:r>
            <a:endParaRPr lang="en-US" sz="860" dirty="0"/>
          </a:p>
          <a:p>
            <a:pPr marL="0" indent="0" algn="r" rtl="1">
              <a:buNone/>
            </a:pPr>
            <a:r>
              <a:rPr lang="en-US" sz="8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 إنجاز رئيسي ٣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7763256" y="10789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الدعم المطلوب من مكتب إدارة المشروع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7763256" y="1353312"/>
            <a:ext cx="381304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7955280" y="1444752"/>
            <a:ext cx="3154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 / اعتماد / تنسيق / تصعيد مطلوب</a:t>
            </a:r>
            <a:endParaRPr lang="en-US" sz="880" dirty="0"/>
          </a:p>
          <a:p>
            <a:pPr marL="0" indent="0" algn="r" rtl="1">
              <a:buNone/>
            </a:pPr>
            <a:r>
              <a:rPr lang="en-US" sz="8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موعد: وقت / تاريخ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30936" y="286207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التحديث التفصيلي اليومي</a:t>
            </a:r>
            <a:endParaRPr lang="en-US" sz="1010" dirty="0"/>
          </a:p>
        </p:txBody>
      </p:sp>
      <p:sp>
        <p:nvSpPr>
          <p:cNvPr id="22" name="Shape 20"/>
          <p:cNvSpPr/>
          <p:nvPr/>
        </p:nvSpPr>
        <p:spPr>
          <a:xfrm>
            <a:off x="630936" y="3136392"/>
            <a:ext cx="1094536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Shape 21"/>
          <p:cNvSpPr/>
          <p:nvPr/>
        </p:nvSpPr>
        <p:spPr>
          <a:xfrm>
            <a:off x="777240" y="3310128"/>
            <a:ext cx="132588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04672" y="33604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2103120" y="3310128"/>
            <a:ext cx="187452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213055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3977640" y="3310128"/>
            <a:ext cx="187452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400507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5852160" y="3310128"/>
            <a:ext cx="187452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5879592" y="33604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7726680" y="3310128"/>
            <a:ext cx="91440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7754112" y="33604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641080" y="3310128"/>
            <a:ext cx="214884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8668512" y="3360420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البند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77240" y="3602736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809244" y="3648456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10312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213512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97764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400964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5852160" y="3602736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5884164" y="3648456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7726680" y="3602736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7758684" y="3648456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8641080" y="3602736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8673084" y="3648456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رئيسية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777240" y="3986784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09244" y="4032504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210312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213512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397764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2" name="Text 50"/>
          <p:cNvSpPr/>
          <p:nvPr/>
        </p:nvSpPr>
        <p:spPr>
          <a:xfrm>
            <a:off x="400964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852160" y="3986784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4" name="Text 52"/>
          <p:cNvSpPr/>
          <p:nvPr/>
        </p:nvSpPr>
        <p:spPr>
          <a:xfrm>
            <a:off x="5884164" y="4032504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7726680" y="3986784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6" name="Text 54"/>
          <p:cNvSpPr/>
          <p:nvPr/>
        </p:nvSpPr>
        <p:spPr>
          <a:xfrm>
            <a:off x="7758684" y="4032504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8641080" y="3986784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Text 56"/>
          <p:cNvSpPr/>
          <p:nvPr/>
        </p:nvSpPr>
        <p:spPr>
          <a:xfrm>
            <a:off x="8673084" y="4032504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مخرجات/اعتمادات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777240" y="4370832"/>
            <a:ext cx="13258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0" name="Text 58"/>
          <p:cNvSpPr/>
          <p:nvPr/>
        </p:nvSpPr>
        <p:spPr>
          <a:xfrm>
            <a:off x="809244" y="4416552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210312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2" name="Text 60"/>
          <p:cNvSpPr/>
          <p:nvPr/>
        </p:nvSpPr>
        <p:spPr>
          <a:xfrm>
            <a:off x="213512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97764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4" name="Text 62"/>
          <p:cNvSpPr/>
          <p:nvPr/>
        </p:nvSpPr>
        <p:spPr>
          <a:xfrm>
            <a:off x="400964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65" name="Shape 63"/>
          <p:cNvSpPr/>
          <p:nvPr/>
        </p:nvSpPr>
        <p:spPr>
          <a:xfrm>
            <a:off x="5852160" y="4370832"/>
            <a:ext cx="18745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6" name="Text 64"/>
          <p:cNvSpPr/>
          <p:nvPr/>
        </p:nvSpPr>
        <p:spPr>
          <a:xfrm>
            <a:off x="5884164" y="4416552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67" name="Shape 65"/>
          <p:cNvSpPr/>
          <p:nvPr/>
        </p:nvSpPr>
        <p:spPr>
          <a:xfrm>
            <a:off x="7726680" y="4370832"/>
            <a:ext cx="9144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8" name="Text 66"/>
          <p:cNvSpPr/>
          <p:nvPr/>
        </p:nvSpPr>
        <p:spPr>
          <a:xfrm>
            <a:off x="7758684" y="4416552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8641080" y="4370832"/>
            <a:ext cx="21488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0" name="Text 68"/>
          <p:cNvSpPr/>
          <p:nvPr/>
        </p:nvSpPr>
        <p:spPr>
          <a:xfrm>
            <a:off x="8673084" y="4416552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تنسيق مع جهات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77240" y="4754880"/>
            <a:ext cx="13258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2" name="Text 70"/>
          <p:cNvSpPr/>
          <p:nvPr/>
        </p:nvSpPr>
        <p:spPr>
          <a:xfrm>
            <a:off x="809244" y="4800600"/>
            <a:ext cx="12618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210312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4" name="Text 72"/>
          <p:cNvSpPr/>
          <p:nvPr/>
        </p:nvSpPr>
        <p:spPr>
          <a:xfrm>
            <a:off x="213512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80" dirty="0"/>
          </a:p>
        </p:txBody>
      </p:sp>
      <p:sp>
        <p:nvSpPr>
          <p:cNvPr id="75" name="Shape 73"/>
          <p:cNvSpPr/>
          <p:nvPr/>
        </p:nvSpPr>
        <p:spPr>
          <a:xfrm>
            <a:off x="397764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6" name="Text 74"/>
          <p:cNvSpPr/>
          <p:nvPr/>
        </p:nvSpPr>
        <p:spPr>
          <a:xfrm>
            <a:off x="400964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مخطط</a:t>
            </a:r>
            <a:endParaRPr lang="en-US" sz="680" dirty="0"/>
          </a:p>
        </p:txBody>
      </p:sp>
      <p:sp>
        <p:nvSpPr>
          <p:cNvPr id="77" name="Shape 75"/>
          <p:cNvSpPr/>
          <p:nvPr/>
        </p:nvSpPr>
        <p:spPr>
          <a:xfrm>
            <a:off x="5852160" y="4754880"/>
            <a:ext cx="18745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8" name="Text 76"/>
          <p:cNvSpPr/>
          <p:nvPr/>
        </p:nvSpPr>
        <p:spPr>
          <a:xfrm>
            <a:off x="5884164" y="4800600"/>
            <a:ext cx="18105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قيد التنفيذ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7726680" y="4754880"/>
            <a:ext cx="9144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0" name="Text 78"/>
          <p:cNvSpPr/>
          <p:nvPr/>
        </p:nvSpPr>
        <p:spPr>
          <a:xfrm>
            <a:off x="7758684" y="4800600"/>
            <a:ext cx="8503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منجز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8641080" y="4754880"/>
            <a:ext cx="21488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2" name="Text 80"/>
          <p:cNvSpPr/>
          <p:nvPr/>
        </p:nvSpPr>
        <p:spPr>
          <a:xfrm>
            <a:off x="8673084" y="4800600"/>
            <a:ext cx="20848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8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موردين/أطراف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تفاصيل الأنشطة اليومية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قائمة أعمال المسار اليومية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41148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الاعتماد/الدليل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188720" y="1481328"/>
            <a:ext cx="278892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216152" y="1531620"/>
            <a:ext cx="2734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نسبة الإنجاز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977640" y="1481328"/>
            <a:ext cx="114300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400507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5120640" y="1481328"/>
            <a:ext cx="91440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51480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نهاية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6035040" y="1481328"/>
            <a:ext cx="91440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60624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بداية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6949440" y="1481328"/>
            <a:ext cx="91440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6976872" y="1531620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109728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789127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النشاط / المخرج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8961120" y="1481328"/>
            <a:ext cx="182880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8988552" y="1531620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24" name="Shape 22"/>
          <p:cNvSpPr/>
          <p:nvPr/>
        </p:nvSpPr>
        <p:spPr>
          <a:xfrm>
            <a:off x="777240" y="177393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809244" y="18196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26" name="Shape 24"/>
          <p:cNvSpPr/>
          <p:nvPr/>
        </p:nvSpPr>
        <p:spPr>
          <a:xfrm>
            <a:off x="1188720" y="177393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1220724" y="18196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3977640" y="177393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4009644" y="18196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51206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1526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60350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60670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6949440" y="177393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6981444" y="18196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863840" y="177393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7895844" y="18196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38" name="Shape 36"/>
          <p:cNvSpPr/>
          <p:nvPr/>
        </p:nvSpPr>
        <p:spPr>
          <a:xfrm>
            <a:off x="8961120" y="177393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8993124" y="18196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660" dirty="0"/>
          </a:p>
        </p:txBody>
      </p:sp>
      <p:sp>
        <p:nvSpPr>
          <p:cNvPr id="40" name="Shape 38"/>
          <p:cNvSpPr/>
          <p:nvPr/>
        </p:nvSpPr>
        <p:spPr>
          <a:xfrm>
            <a:off x="777240" y="218541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809244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1188720" y="218541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1220724" y="22311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3977640" y="218541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4009644" y="22311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46" name="Shape 44"/>
          <p:cNvSpPr/>
          <p:nvPr/>
        </p:nvSpPr>
        <p:spPr>
          <a:xfrm>
            <a:off x="51206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51526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48" name="Shape 46"/>
          <p:cNvSpPr/>
          <p:nvPr/>
        </p:nvSpPr>
        <p:spPr>
          <a:xfrm>
            <a:off x="60350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60670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6949440" y="218541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6981444" y="22311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7863840" y="218541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95844" y="22311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54" name="Shape 52"/>
          <p:cNvSpPr/>
          <p:nvPr/>
        </p:nvSpPr>
        <p:spPr>
          <a:xfrm>
            <a:off x="8961120" y="218541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993124" y="22311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660" dirty="0"/>
          </a:p>
        </p:txBody>
      </p:sp>
      <p:sp>
        <p:nvSpPr>
          <p:cNvPr id="56" name="Shape 54"/>
          <p:cNvSpPr/>
          <p:nvPr/>
        </p:nvSpPr>
        <p:spPr>
          <a:xfrm>
            <a:off x="777240" y="259689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26426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1188720" y="259689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1220724" y="26426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3977640" y="259689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4009644" y="26426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62" name="Shape 60"/>
          <p:cNvSpPr/>
          <p:nvPr/>
        </p:nvSpPr>
        <p:spPr>
          <a:xfrm>
            <a:off x="51206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51526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60350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60670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66" name="Shape 64"/>
          <p:cNvSpPr/>
          <p:nvPr/>
        </p:nvSpPr>
        <p:spPr>
          <a:xfrm>
            <a:off x="6949440" y="259689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981444" y="26426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7863840" y="259689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7895844" y="26426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70" name="Shape 68"/>
          <p:cNvSpPr/>
          <p:nvPr/>
        </p:nvSpPr>
        <p:spPr>
          <a:xfrm>
            <a:off x="8961120" y="259689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8993124" y="26426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660" dirty="0"/>
          </a:p>
        </p:txBody>
      </p:sp>
      <p:sp>
        <p:nvSpPr>
          <p:cNvPr id="72" name="Shape 70"/>
          <p:cNvSpPr/>
          <p:nvPr/>
        </p:nvSpPr>
        <p:spPr>
          <a:xfrm>
            <a:off x="777240" y="300837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809244" y="305409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1188720" y="300837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1220724" y="305409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76" name="Shape 74"/>
          <p:cNvSpPr/>
          <p:nvPr/>
        </p:nvSpPr>
        <p:spPr>
          <a:xfrm>
            <a:off x="3977640" y="300837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4009644" y="305409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78" name="Shape 76"/>
          <p:cNvSpPr/>
          <p:nvPr/>
        </p:nvSpPr>
        <p:spPr>
          <a:xfrm>
            <a:off x="51206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51526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0" name="Shape 78"/>
          <p:cNvSpPr/>
          <p:nvPr/>
        </p:nvSpPr>
        <p:spPr>
          <a:xfrm>
            <a:off x="60350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60670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82" name="Shape 80"/>
          <p:cNvSpPr/>
          <p:nvPr/>
        </p:nvSpPr>
        <p:spPr>
          <a:xfrm>
            <a:off x="6949440" y="300837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981444" y="305409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84" name="Shape 82"/>
          <p:cNvSpPr/>
          <p:nvPr/>
        </p:nvSpPr>
        <p:spPr>
          <a:xfrm>
            <a:off x="7863840" y="300837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7895844" y="305409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8961120" y="300837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8993124" y="305409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660" dirty="0"/>
          </a:p>
        </p:txBody>
      </p:sp>
      <p:sp>
        <p:nvSpPr>
          <p:cNvPr id="88" name="Shape 86"/>
          <p:cNvSpPr/>
          <p:nvPr/>
        </p:nvSpPr>
        <p:spPr>
          <a:xfrm>
            <a:off x="777240" y="341985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809244" y="346557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90" name="Shape 88"/>
          <p:cNvSpPr/>
          <p:nvPr/>
        </p:nvSpPr>
        <p:spPr>
          <a:xfrm>
            <a:off x="1188720" y="341985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1" name="Text 89"/>
          <p:cNvSpPr/>
          <p:nvPr/>
        </p:nvSpPr>
        <p:spPr>
          <a:xfrm>
            <a:off x="1220724" y="346557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92" name="Shape 90"/>
          <p:cNvSpPr/>
          <p:nvPr/>
        </p:nvSpPr>
        <p:spPr>
          <a:xfrm>
            <a:off x="3977640" y="341985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3" name="Text 91"/>
          <p:cNvSpPr/>
          <p:nvPr/>
        </p:nvSpPr>
        <p:spPr>
          <a:xfrm>
            <a:off x="4009644" y="346557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94" name="Shape 92"/>
          <p:cNvSpPr/>
          <p:nvPr/>
        </p:nvSpPr>
        <p:spPr>
          <a:xfrm>
            <a:off x="51206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5" name="Text 93"/>
          <p:cNvSpPr/>
          <p:nvPr/>
        </p:nvSpPr>
        <p:spPr>
          <a:xfrm>
            <a:off x="51526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6" name="Shape 94"/>
          <p:cNvSpPr/>
          <p:nvPr/>
        </p:nvSpPr>
        <p:spPr>
          <a:xfrm>
            <a:off x="60350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7" name="Text 95"/>
          <p:cNvSpPr/>
          <p:nvPr/>
        </p:nvSpPr>
        <p:spPr>
          <a:xfrm>
            <a:off x="60670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6949440" y="341985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9" name="Text 97"/>
          <p:cNvSpPr/>
          <p:nvPr/>
        </p:nvSpPr>
        <p:spPr>
          <a:xfrm>
            <a:off x="6981444" y="346557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00" name="Shape 98"/>
          <p:cNvSpPr/>
          <p:nvPr/>
        </p:nvSpPr>
        <p:spPr>
          <a:xfrm>
            <a:off x="7863840" y="341985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1" name="Text 99"/>
          <p:cNvSpPr/>
          <p:nvPr/>
        </p:nvSpPr>
        <p:spPr>
          <a:xfrm>
            <a:off x="7895844" y="346557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02" name="Shape 100"/>
          <p:cNvSpPr/>
          <p:nvPr/>
        </p:nvSpPr>
        <p:spPr>
          <a:xfrm>
            <a:off x="8961120" y="341985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3" name="Text 101"/>
          <p:cNvSpPr/>
          <p:nvPr/>
        </p:nvSpPr>
        <p:spPr>
          <a:xfrm>
            <a:off x="8993124" y="346557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٥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777240" y="383133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5" name="Text 103"/>
          <p:cNvSpPr/>
          <p:nvPr/>
        </p:nvSpPr>
        <p:spPr>
          <a:xfrm>
            <a:off x="809244" y="387705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06" name="Shape 104"/>
          <p:cNvSpPr/>
          <p:nvPr/>
        </p:nvSpPr>
        <p:spPr>
          <a:xfrm>
            <a:off x="1188720" y="383133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7" name="Text 105"/>
          <p:cNvSpPr/>
          <p:nvPr/>
        </p:nvSpPr>
        <p:spPr>
          <a:xfrm>
            <a:off x="1220724" y="387705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08" name="Shape 106"/>
          <p:cNvSpPr/>
          <p:nvPr/>
        </p:nvSpPr>
        <p:spPr>
          <a:xfrm>
            <a:off x="3977640" y="383133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9" name="Text 107"/>
          <p:cNvSpPr/>
          <p:nvPr/>
        </p:nvSpPr>
        <p:spPr>
          <a:xfrm>
            <a:off x="4009644" y="387705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10" name="Shape 108"/>
          <p:cNvSpPr/>
          <p:nvPr/>
        </p:nvSpPr>
        <p:spPr>
          <a:xfrm>
            <a:off x="51206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1" name="Text 109"/>
          <p:cNvSpPr/>
          <p:nvPr/>
        </p:nvSpPr>
        <p:spPr>
          <a:xfrm>
            <a:off x="51526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2" name="Shape 110"/>
          <p:cNvSpPr/>
          <p:nvPr/>
        </p:nvSpPr>
        <p:spPr>
          <a:xfrm>
            <a:off x="60350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3" name="Text 111"/>
          <p:cNvSpPr/>
          <p:nvPr/>
        </p:nvSpPr>
        <p:spPr>
          <a:xfrm>
            <a:off x="60670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14" name="Shape 112"/>
          <p:cNvSpPr/>
          <p:nvPr/>
        </p:nvSpPr>
        <p:spPr>
          <a:xfrm>
            <a:off x="6949440" y="383133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5" name="Text 113"/>
          <p:cNvSpPr/>
          <p:nvPr/>
        </p:nvSpPr>
        <p:spPr>
          <a:xfrm>
            <a:off x="6981444" y="387705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16" name="Shape 114"/>
          <p:cNvSpPr/>
          <p:nvPr/>
        </p:nvSpPr>
        <p:spPr>
          <a:xfrm>
            <a:off x="7863840" y="383133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7" name="Text 115"/>
          <p:cNvSpPr/>
          <p:nvPr/>
        </p:nvSpPr>
        <p:spPr>
          <a:xfrm>
            <a:off x="7895844" y="387705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18" name="Shape 116"/>
          <p:cNvSpPr/>
          <p:nvPr/>
        </p:nvSpPr>
        <p:spPr>
          <a:xfrm>
            <a:off x="8961120" y="383133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9" name="Text 117"/>
          <p:cNvSpPr/>
          <p:nvPr/>
        </p:nvSpPr>
        <p:spPr>
          <a:xfrm>
            <a:off x="8993124" y="387705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٦</a:t>
            </a:r>
            <a:endParaRPr lang="en-US" sz="660" dirty="0"/>
          </a:p>
        </p:txBody>
      </p:sp>
      <p:sp>
        <p:nvSpPr>
          <p:cNvPr id="120" name="Shape 118"/>
          <p:cNvSpPr/>
          <p:nvPr/>
        </p:nvSpPr>
        <p:spPr>
          <a:xfrm>
            <a:off x="777240" y="4242816"/>
            <a:ext cx="4114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1" name="Text 119"/>
          <p:cNvSpPr/>
          <p:nvPr/>
        </p:nvSpPr>
        <p:spPr>
          <a:xfrm>
            <a:off x="809244" y="428853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22" name="Shape 120"/>
          <p:cNvSpPr/>
          <p:nvPr/>
        </p:nvSpPr>
        <p:spPr>
          <a:xfrm>
            <a:off x="1188720" y="4242816"/>
            <a:ext cx="278892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3" name="Text 121"/>
          <p:cNvSpPr/>
          <p:nvPr/>
        </p:nvSpPr>
        <p:spPr>
          <a:xfrm>
            <a:off x="1220724" y="428853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24" name="Shape 122"/>
          <p:cNvSpPr/>
          <p:nvPr/>
        </p:nvSpPr>
        <p:spPr>
          <a:xfrm>
            <a:off x="3977640" y="4242816"/>
            <a:ext cx="11430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5" name="Text 123"/>
          <p:cNvSpPr/>
          <p:nvPr/>
        </p:nvSpPr>
        <p:spPr>
          <a:xfrm>
            <a:off x="4009644" y="428853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26" name="Shape 124"/>
          <p:cNvSpPr/>
          <p:nvPr/>
        </p:nvSpPr>
        <p:spPr>
          <a:xfrm>
            <a:off x="51206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7" name="Text 125"/>
          <p:cNvSpPr/>
          <p:nvPr/>
        </p:nvSpPr>
        <p:spPr>
          <a:xfrm>
            <a:off x="51526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60350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9" name="Text 127"/>
          <p:cNvSpPr/>
          <p:nvPr/>
        </p:nvSpPr>
        <p:spPr>
          <a:xfrm>
            <a:off x="60670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30" name="Shape 128"/>
          <p:cNvSpPr/>
          <p:nvPr/>
        </p:nvSpPr>
        <p:spPr>
          <a:xfrm>
            <a:off x="6949440" y="4242816"/>
            <a:ext cx="9144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1" name="Text 129"/>
          <p:cNvSpPr/>
          <p:nvPr/>
        </p:nvSpPr>
        <p:spPr>
          <a:xfrm>
            <a:off x="6981444" y="428853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32" name="Shape 130"/>
          <p:cNvSpPr/>
          <p:nvPr/>
        </p:nvSpPr>
        <p:spPr>
          <a:xfrm>
            <a:off x="7863840" y="4242816"/>
            <a:ext cx="109728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3" name="Text 131"/>
          <p:cNvSpPr/>
          <p:nvPr/>
        </p:nvSpPr>
        <p:spPr>
          <a:xfrm>
            <a:off x="7895844" y="428853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34" name="Shape 132"/>
          <p:cNvSpPr/>
          <p:nvPr/>
        </p:nvSpPr>
        <p:spPr>
          <a:xfrm>
            <a:off x="8961120" y="4242816"/>
            <a:ext cx="1828800" cy="411480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5" name="Text 133"/>
          <p:cNvSpPr/>
          <p:nvPr/>
        </p:nvSpPr>
        <p:spPr>
          <a:xfrm>
            <a:off x="8993124" y="428853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٧</a:t>
            </a:r>
            <a:endParaRPr lang="en-US" sz="660" dirty="0"/>
          </a:p>
        </p:txBody>
      </p:sp>
      <p:sp>
        <p:nvSpPr>
          <p:cNvPr id="136" name="Shape 134"/>
          <p:cNvSpPr/>
          <p:nvPr/>
        </p:nvSpPr>
        <p:spPr>
          <a:xfrm>
            <a:off x="777240" y="4654296"/>
            <a:ext cx="4114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7" name="Text 135"/>
          <p:cNvSpPr/>
          <p:nvPr/>
        </p:nvSpPr>
        <p:spPr>
          <a:xfrm>
            <a:off x="809244" y="4700016"/>
            <a:ext cx="3474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رابط/مرفق</a:t>
            </a:r>
            <a:endParaRPr lang="en-US" sz="660" dirty="0"/>
          </a:p>
        </p:txBody>
      </p:sp>
      <p:sp>
        <p:nvSpPr>
          <p:cNvPr id="138" name="Shape 136"/>
          <p:cNvSpPr/>
          <p:nvPr/>
        </p:nvSpPr>
        <p:spPr>
          <a:xfrm>
            <a:off x="1188720" y="4654296"/>
            <a:ext cx="278892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9" name="Text 137"/>
          <p:cNvSpPr/>
          <p:nvPr/>
        </p:nvSpPr>
        <p:spPr>
          <a:xfrm>
            <a:off x="1220724" y="4700016"/>
            <a:ext cx="272491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٪</a:t>
            </a:r>
            <a:endParaRPr lang="en-US" sz="660" dirty="0"/>
          </a:p>
        </p:txBody>
      </p:sp>
      <p:sp>
        <p:nvSpPr>
          <p:cNvPr id="140" name="Shape 138"/>
          <p:cNvSpPr/>
          <p:nvPr/>
        </p:nvSpPr>
        <p:spPr>
          <a:xfrm>
            <a:off x="3977640" y="4654296"/>
            <a:ext cx="11430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1" name="Text 139"/>
          <p:cNvSpPr/>
          <p:nvPr/>
        </p:nvSpPr>
        <p:spPr>
          <a:xfrm>
            <a:off x="4009644" y="4700016"/>
            <a:ext cx="10789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أ/أص/ح</a:t>
            </a:r>
            <a:endParaRPr lang="en-US" sz="660" dirty="0"/>
          </a:p>
        </p:txBody>
      </p:sp>
      <p:sp>
        <p:nvSpPr>
          <p:cNvPr id="142" name="Shape 140"/>
          <p:cNvSpPr/>
          <p:nvPr/>
        </p:nvSpPr>
        <p:spPr>
          <a:xfrm>
            <a:off x="51206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3" name="Text 141"/>
          <p:cNvSpPr/>
          <p:nvPr/>
        </p:nvSpPr>
        <p:spPr>
          <a:xfrm>
            <a:off x="51526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4" name="Shape 142"/>
          <p:cNvSpPr/>
          <p:nvPr/>
        </p:nvSpPr>
        <p:spPr>
          <a:xfrm>
            <a:off x="60350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5" name="Text 143"/>
          <p:cNvSpPr/>
          <p:nvPr/>
        </p:nvSpPr>
        <p:spPr>
          <a:xfrm>
            <a:off x="60670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60" dirty="0"/>
          </a:p>
        </p:txBody>
      </p:sp>
      <p:sp>
        <p:nvSpPr>
          <p:cNvPr id="146" name="Shape 144"/>
          <p:cNvSpPr/>
          <p:nvPr/>
        </p:nvSpPr>
        <p:spPr>
          <a:xfrm>
            <a:off x="6949440" y="4654296"/>
            <a:ext cx="9144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7" name="Text 145"/>
          <p:cNvSpPr/>
          <p:nvPr/>
        </p:nvSpPr>
        <p:spPr>
          <a:xfrm>
            <a:off x="6981444" y="4700016"/>
            <a:ext cx="8503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</a:t>
            </a:r>
            <a:endParaRPr lang="en-US" sz="660" dirty="0"/>
          </a:p>
        </p:txBody>
      </p:sp>
      <p:sp>
        <p:nvSpPr>
          <p:cNvPr id="148" name="Shape 146"/>
          <p:cNvSpPr/>
          <p:nvPr/>
        </p:nvSpPr>
        <p:spPr>
          <a:xfrm>
            <a:off x="7863840" y="4654296"/>
            <a:ext cx="109728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9" name="Text 147"/>
          <p:cNvSpPr/>
          <p:nvPr/>
        </p:nvSpPr>
        <p:spPr>
          <a:xfrm>
            <a:off x="7895844" y="4700016"/>
            <a:ext cx="103327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اسم النشاط/المخرج</a:t>
            </a:r>
            <a:endParaRPr lang="en-US" sz="660" dirty="0"/>
          </a:p>
        </p:txBody>
      </p:sp>
      <p:sp>
        <p:nvSpPr>
          <p:cNvPr id="150" name="Shape 148"/>
          <p:cNvSpPr/>
          <p:nvPr/>
        </p:nvSpPr>
        <p:spPr>
          <a:xfrm>
            <a:off x="8961120" y="4654296"/>
            <a:ext cx="1828800" cy="411480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1" name="Text 149"/>
          <p:cNvSpPr/>
          <p:nvPr/>
        </p:nvSpPr>
        <p:spPr>
          <a:xfrm>
            <a:off x="8993124" y="4700016"/>
            <a:ext cx="1764792" cy="320040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6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٨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 والقضايا والتصعيد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المخاطر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المالك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1280160" y="1481328"/>
            <a:ext cx="1645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1307592" y="1531620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آخر موعد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2926080" y="1481328"/>
            <a:ext cx="8229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2953512" y="1531620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374904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377647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4983480" y="1481328"/>
            <a:ext cx="68580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010912" y="153162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الحالة اللونية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5669280" y="1481328"/>
            <a:ext cx="50292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5696712" y="1531620"/>
            <a:ext cx="448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الإجراء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280160" y="1773936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1312164" y="1819656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926080" y="1773936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2958084" y="1819656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749040" y="1773936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3781044" y="1819656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4983480" y="1773936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015484" y="1819656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669280" y="1773936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5701284" y="1819656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7724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280160" y="2157984"/>
            <a:ext cx="1645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1312164" y="2203704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26080" y="2157984"/>
            <a:ext cx="8229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2958084" y="2203704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749040" y="2157984"/>
            <a:ext cx="12344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3781044" y="2203704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983480" y="2157984"/>
            <a:ext cx="6858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015484" y="2203704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أص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669280" y="2157984"/>
            <a:ext cx="50292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5701284" y="2203704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77724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5" name="Text 43"/>
          <p:cNvSpPr/>
          <p:nvPr/>
        </p:nvSpPr>
        <p:spPr>
          <a:xfrm>
            <a:off x="80924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مالك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1280160" y="2542032"/>
            <a:ext cx="1645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1312164" y="2587752"/>
            <a:ext cx="1581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2926080" y="2542032"/>
            <a:ext cx="8229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8084" y="2587752"/>
            <a:ext cx="7589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749040" y="2542032"/>
            <a:ext cx="12344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3781044" y="2587752"/>
            <a:ext cx="11704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قرار/اعتماد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4983480" y="2542032"/>
            <a:ext cx="6858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5015484" y="2587752"/>
            <a:ext cx="6217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5669280" y="2542032"/>
            <a:ext cx="50292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5701284" y="2587752"/>
            <a:ext cx="43891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 err="1">
                <a:solidFill>
                  <a:srgbClr val="C9A2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قرارات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C9A24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8" name="Shape 56"/>
          <p:cNvSpPr/>
          <p:nvPr/>
        </p:nvSpPr>
        <p:spPr>
          <a:xfrm>
            <a:off x="6537960" y="1481328"/>
            <a:ext cx="169164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6565392" y="1531620"/>
            <a:ext cx="1636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الإجراء</a:t>
            </a:r>
            <a:endParaRPr lang="en-US" sz="710" dirty="0"/>
          </a:p>
        </p:txBody>
      </p:sp>
      <p:sp>
        <p:nvSpPr>
          <p:cNvPr id="60" name="Shape 58"/>
          <p:cNvSpPr/>
          <p:nvPr/>
        </p:nvSpPr>
        <p:spPr>
          <a:xfrm>
            <a:off x="8229600" y="1481328"/>
            <a:ext cx="160020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8257032" y="1531620"/>
            <a:ext cx="1545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الأثر</a:t>
            </a:r>
            <a:endParaRPr lang="en-US" sz="710" dirty="0"/>
          </a:p>
        </p:txBody>
      </p:sp>
      <p:sp>
        <p:nvSpPr>
          <p:cNvPr id="62" name="Shape 60"/>
          <p:cNvSpPr/>
          <p:nvPr/>
        </p:nvSpPr>
        <p:spPr>
          <a:xfrm>
            <a:off x="9829800" y="1481328"/>
            <a:ext cx="105156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9857232" y="1531620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الوصف</a:t>
            </a:r>
            <a:endParaRPr lang="en-US" sz="710" dirty="0"/>
          </a:p>
        </p:txBody>
      </p:sp>
      <p:sp>
        <p:nvSpPr>
          <p:cNvPr id="64" name="Shape 62"/>
          <p:cNvSpPr/>
          <p:nvPr/>
        </p:nvSpPr>
        <p:spPr>
          <a:xfrm>
            <a:off x="10881360" y="1481328"/>
            <a:ext cx="868680" cy="292608"/>
          </a:xfrm>
          <a:prstGeom prst="rect">
            <a:avLst/>
          </a:prstGeom>
          <a:solidFill>
            <a:srgbClr val="C9A24A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10908792" y="1531620"/>
            <a:ext cx="813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الرمز</a:t>
            </a:r>
            <a:endParaRPr lang="en-US" sz="710" dirty="0"/>
          </a:p>
        </p:txBody>
      </p:sp>
      <p:sp>
        <p:nvSpPr>
          <p:cNvPr id="66" name="Shape 64"/>
          <p:cNvSpPr/>
          <p:nvPr/>
        </p:nvSpPr>
        <p:spPr>
          <a:xfrm>
            <a:off x="6537960" y="1773936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6569964" y="1819656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8229600" y="1773936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8261604" y="1819656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9829800" y="1773936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9861804" y="1819656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881360" y="1773936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10913364" y="1819656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خطر/قضية-١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6537960" y="2157984"/>
            <a:ext cx="169164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6569964" y="2203704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8229600" y="2157984"/>
            <a:ext cx="160020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7" name="Text 75"/>
          <p:cNvSpPr/>
          <p:nvPr/>
        </p:nvSpPr>
        <p:spPr>
          <a:xfrm>
            <a:off x="8261604" y="2203704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829800" y="2157984"/>
            <a:ext cx="105156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9" name="Text 77"/>
          <p:cNvSpPr/>
          <p:nvPr/>
        </p:nvSpPr>
        <p:spPr>
          <a:xfrm>
            <a:off x="9861804" y="2203704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10881360" y="2157984"/>
            <a:ext cx="868680" cy="384048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1" name="Text 79"/>
          <p:cNvSpPr/>
          <p:nvPr/>
        </p:nvSpPr>
        <p:spPr>
          <a:xfrm>
            <a:off x="10913364" y="2203704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خطر/قضية-٢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6537960" y="2542032"/>
            <a:ext cx="169164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3" name="Text 81"/>
          <p:cNvSpPr/>
          <p:nvPr/>
        </p:nvSpPr>
        <p:spPr>
          <a:xfrm>
            <a:off x="6569964" y="2587752"/>
            <a:ext cx="162763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8229600" y="2542032"/>
            <a:ext cx="160020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5" name="Text 83"/>
          <p:cNvSpPr/>
          <p:nvPr/>
        </p:nvSpPr>
        <p:spPr>
          <a:xfrm>
            <a:off x="8261604" y="2587752"/>
            <a:ext cx="153619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أثر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829800" y="2542032"/>
            <a:ext cx="105156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7" name="Text 85"/>
          <p:cNvSpPr/>
          <p:nvPr/>
        </p:nvSpPr>
        <p:spPr>
          <a:xfrm>
            <a:off x="9861804" y="2587752"/>
            <a:ext cx="98755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وصف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10881360" y="2542032"/>
            <a:ext cx="8686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9" name="Text 87"/>
          <p:cNvSpPr/>
          <p:nvPr/>
        </p:nvSpPr>
        <p:spPr>
          <a:xfrm>
            <a:off x="10913364" y="2587752"/>
            <a:ext cx="804672" cy="292608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6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خطر/قضية-٣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630936" y="386791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1010" dirty="0"/>
          </a:p>
        </p:txBody>
      </p:sp>
      <p:sp>
        <p:nvSpPr>
          <p:cNvPr id="91" name="Shape 89"/>
          <p:cNvSpPr/>
          <p:nvPr/>
        </p:nvSpPr>
        <p:spPr>
          <a:xfrm>
            <a:off x="630936" y="4142232"/>
            <a:ext cx="1094536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2" name="Text 90"/>
          <p:cNvSpPr/>
          <p:nvPr/>
        </p:nvSpPr>
        <p:spPr>
          <a:xfrm>
            <a:off x="868680" y="4279392"/>
            <a:ext cx="1014984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١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ملاحظة ٢</a:t>
            </a:r>
            <a:endParaRPr lang="en-US" sz="900" dirty="0"/>
          </a:p>
          <a:p>
            <a:pPr marL="0" indent="0" algn="r" rtl="1">
              <a:buNone/>
            </a:pPr>
            <a:r>
              <a:rPr lang="en-US" sz="9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أي تأثير على التقرير اليومي الشامل أو على مسارات أخرى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السلامة والجودة والجاهزية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D64D3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سلامة المسار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10945368" cy="0"/>
          </a:xfrm>
          <a:prstGeom prst="line">
            <a:avLst/>
          </a:prstGeom>
          <a:noFill/>
          <a:ln w="12700">
            <a:solidFill>
              <a:srgbClr val="D64D3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Text 7"/>
          <p:cNvSpPr/>
          <p:nvPr/>
        </p:nvSpPr>
        <p:spPr>
          <a:xfrm>
            <a:off x="8046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</a:t>
            </a:r>
            <a:endParaRPr lang="en-US" sz="710" dirty="0"/>
          </a:p>
        </p:txBody>
      </p:sp>
      <p:sp>
        <p:nvSpPr>
          <p:cNvPr id="10" name="Shape 8"/>
          <p:cNvSpPr/>
          <p:nvPr/>
        </p:nvSpPr>
        <p:spPr>
          <a:xfrm>
            <a:off x="2103120" y="1481328"/>
            <a:ext cx="12344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2130552" y="153162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إجراءات فورية</a:t>
            </a:r>
            <a:endParaRPr lang="en-US" sz="710" dirty="0"/>
          </a:p>
        </p:txBody>
      </p:sp>
      <p:sp>
        <p:nvSpPr>
          <p:cNvPr id="12" name="Shape 10"/>
          <p:cNvSpPr/>
          <p:nvPr/>
        </p:nvSpPr>
        <p:spPr>
          <a:xfrm>
            <a:off x="3337560" y="1481328"/>
            <a:ext cx="10972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3364992" y="153162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إيقافات سلامة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>
            <a:off x="4434840" y="1481328"/>
            <a:ext cx="132588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4462272" y="153162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حوادث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5760720" y="1481328"/>
            <a:ext cx="242316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5788152" y="1531620"/>
            <a:ext cx="2368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شبه حادث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8183880" y="1481328"/>
            <a:ext cx="2606040" cy="292608"/>
          </a:xfrm>
          <a:prstGeom prst="rect">
            <a:avLst/>
          </a:prstGeom>
          <a:solidFill>
            <a:srgbClr val="D64D3F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8211312" y="1531620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ساعات العمل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>
            <a:off x="7772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8092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103120" y="1773936"/>
            <a:ext cx="12344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3" name="Text 21"/>
          <p:cNvSpPr/>
          <p:nvPr/>
        </p:nvSpPr>
        <p:spPr>
          <a:xfrm>
            <a:off x="2135124" y="1819656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337560" y="1773936"/>
            <a:ext cx="10972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3369564" y="1819656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34840" y="1773936"/>
            <a:ext cx="13258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7" name="Text 25"/>
          <p:cNvSpPr/>
          <p:nvPr/>
        </p:nvSpPr>
        <p:spPr>
          <a:xfrm>
            <a:off x="4466844" y="1819656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0" y="1773936"/>
            <a:ext cx="2423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Text 27"/>
          <p:cNvSpPr/>
          <p:nvPr/>
        </p:nvSpPr>
        <p:spPr>
          <a:xfrm>
            <a:off x="5792724" y="1819656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183880" y="1773936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8215884" y="181965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772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3" name="Text 31"/>
          <p:cNvSpPr/>
          <p:nvPr/>
        </p:nvSpPr>
        <p:spPr>
          <a:xfrm>
            <a:off x="8092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حر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103120" y="2167128"/>
            <a:ext cx="12344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2135124" y="2212848"/>
            <a:ext cx="11704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إجراء/مالك/وقت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337560" y="2167128"/>
            <a:ext cx="10972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7" name="Text 35"/>
          <p:cNvSpPr/>
          <p:nvPr/>
        </p:nvSpPr>
        <p:spPr>
          <a:xfrm>
            <a:off x="3369564" y="2212848"/>
            <a:ext cx="10332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34840" y="2167128"/>
            <a:ext cx="13258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9" name="Text 37"/>
          <p:cNvSpPr/>
          <p:nvPr/>
        </p:nvSpPr>
        <p:spPr>
          <a:xfrm>
            <a:off x="4466844" y="2212848"/>
            <a:ext cx="12618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760720" y="2167128"/>
            <a:ext cx="2423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1" name="Text 39"/>
          <p:cNvSpPr/>
          <p:nvPr/>
        </p:nvSpPr>
        <p:spPr>
          <a:xfrm>
            <a:off x="5792724" y="2212848"/>
            <a:ext cx="2359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8183880" y="2167128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3" name="Text 41"/>
          <p:cNvSpPr/>
          <p:nvPr/>
        </p:nvSpPr>
        <p:spPr>
          <a:xfrm>
            <a:off x="8215884" y="2212848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٠٠٠٠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30936" y="3566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جودة وجاهزية المسار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630936" y="3840480"/>
            <a:ext cx="1094536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Shape 44"/>
          <p:cNvSpPr/>
          <p:nvPr/>
        </p:nvSpPr>
        <p:spPr>
          <a:xfrm>
            <a:off x="777240" y="3968496"/>
            <a:ext cx="214884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7" name="Text 45"/>
          <p:cNvSpPr/>
          <p:nvPr/>
        </p:nvSpPr>
        <p:spPr>
          <a:xfrm>
            <a:off x="804672" y="4018788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 الغد</a:t>
            </a:r>
            <a:endParaRPr lang="en-US" sz="710" dirty="0"/>
          </a:p>
        </p:txBody>
      </p:sp>
      <p:sp>
        <p:nvSpPr>
          <p:cNvPr id="48" name="Shape 46"/>
          <p:cNvSpPr/>
          <p:nvPr/>
        </p:nvSpPr>
        <p:spPr>
          <a:xfrm>
            <a:off x="2926080" y="3968496"/>
            <a:ext cx="260604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9" name="Text 47"/>
          <p:cNvSpPr/>
          <p:nvPr/>
        </p:nvSpPr>
        <p:spPr>
          <a:xfrm>
            <a:off x="2953512" y="4018788"/>
            <a:ext cx="25511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مقفلة</a:t>
            </a:r>
            <a:endParaRPr lang="en-US" sz="710" dirty="0"/>
          </a:p>
        </p:txBody>
      </p:sp>
      <p:sp>
        <p:nvSpPr>
          <p:cNvPr id="50" name="Shape 48"/>
          <p:cNvSpPr/>
          <p:nvPr/>
        </p:nvSpPr>
        <p:spPr>
          <a:xfrm>
            <a:off x="5532120" y="3968496"/>
            <a:ext cx="128016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1" name="Text 49"/>
          <p:cNvSpPr/>
          <p:nvPr/>
        </p:nvSpPr>
        <p:spPr>
          <a:xfrm>
            <a:off x="555955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عدم المطابقة مفتوحة</a:t>
            </a:r>
            <a:endParaRPr lang="en-US" sz="710" dirty="0"/>
          </a:p>
        </p:txBody>
      </p:sp>
      <p:sp>
        <p:nvSpPr>
          <p:cNvPr id="52" name="Shape 50"/>
          <p:cNvSpPr/>
          <p:nvPr/>
        </p:nvSpPr>
        <p:spPr>
          <a:xfrm>
            <a:off x="6812280" y="3968496"/>
            <a:ext cx="128016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6839712" y="40187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ملاحظات جودة</a:t>
            </a:r>
            <a:endParaRPr lang="en-US" sz="710" dirty="0"/>
          </a:p>
        </p:txBody>
      </p:sp>
      <p:sp>
        <p:nvSpPr>
          <p:cNvPr id="54" name="Shape 52"/>
          <p:cNvSpPr/>
          <p:nvPr/>
        </p:nvSpPr>
        <p:spPr>
          <a:xfrm>
            <a:off x="8092440" y="3968496"/>
            <a:ext cx="2697480" cy="292608"/>
          </a:xfrm>
          <a:prstGeom prst="rect">
            <a:avLst/>
          </a:prstGeom>
          <a:solidFill>
            <a:srgbClr val="1C8D82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5" name="Text 53"/>
          <p:cNvSpPr/>
          <p:nvPr/>
        </p:nvSpPr>
        <p:spPr>
          <a:xfrm>
            <a:off x="8119872" y="4018788"/>
            <a:ext cx="2642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تفتيشات اليوم</a:t>
            </a:r>
            <a:endParaRPr lang="en-US" sz="710" dirty="0"/>
          </a:p>
        </p:txBody>
      </p:sp>
      <p:sp>
        <p:nvSpPr>
          <p:cNvPr id="56" name="Shape 54"/>
          <p:cNvSpPr/>
          <p:nvPr/>
        </p:nvSpPr>
        <p:spPr>
          <a:xfrm>
            <a:off x="777240" y="4261104"/>
            <a:ext cx="21488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7" name="Text 55"/>
          <p:cNvSpPr/>
          <p:nvPr/>
        </p:nvSpPr>
        <p:spPr>
          <a:xfrm>
            <a:off x="809244" y="4306824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926080" y="4261104"/>
            <a:ext cx="260604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9" name="Text 57"/>
          <p:cNvSpPr/>
          <p:nvPr/>
        </p:nvSpPr>
        <p:spPr>
          <a:xfrm>
            <a:off x="2958084" y="4306824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53212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1" name="Text 59"/>
          <p:cNvSpPr/>
          <p:nvPr/>
        </p:nvSpPr>
        <p:spPr>
          <a:xfrm>
            <a:off x="556412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6812280" y="4261104"/>
            <a:ext cx="128016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3" name="Text 61"/>
          <p:cNvSpPr/>
          <p:nvPr/>
        </p:nvSpPr>
        <p:spPr>
          <a:xfrm>
            <a:off x="6844284" y="4306824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8092440" y="4261104"/>
            <a:ext cx="2697480" cy="393192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5" name="Text 63"/>
          <p:cNvSpPr/>
          <p:nvPr/>
        </p:nvSpPr>
        <p:spPr>
          <a:xfrm>
            <a:off x="8124444" y="4306824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777240" y="4654296"/>
            <a:ext cx="21488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7" name="Text 65"/>
          <p:cNvSpPr/>
          <p:nvPr/>
        </p:nvSpPr>
        <p:spPr>
          <a:xfrm>
            <a:off x="809244" y="4700016"/>
            <a:ext cx="20848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إجراء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926080" y="4654296"/>
            <a:ext cx="260604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69" name="Text 67"/>
          <p:cNvSpPr/>
          <p:nvPr/>
        </p:nvSpPr>
        <p:spPr>
          <a:xfrm>
            <a:off x="2958084" y="4700016"/>
            <a:ext cx="254203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553212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1" name="Text 69"/>
          <p:cNvSpPr/>
          <p:nvPr/>
        </p:nvSpPr>
        <p:spPr>
          <a:xfrm>
            <a:off x="556412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6812280" y="4654296"/>
            <a:ext cx="128016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3" name="Text 71"/>
          <p:cNvSpPr/>
          <p:nvPr/>
        </p:nvSpPr>
        <p:spPr>
          <a:xfrm>
            <a:off x="6844284" y="4700016"/>
            <a:ext cx="121615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ملاحظة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8092440" y="4654296"/>
            <a:ext cx="2697480" cy="393192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75" name="Text 73"/>
          <p:cNvSpPr/>
          <p:nvPr/>
        </p:nvSpPr>
        <p:spPr>
          <a:xfrm>
            <a:off x="8124444" y="4700016"/>
            <a:ext cx="2633472" cy="301752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عدد/موقع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اليومي للمسار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58368" y="9601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r" rtl="1">
              <a:buNone/>
            </a:pP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الجدول الزمني </a:t>
            </a:r>
            <a:r>
              <a:rPr lang="ar-SA" sz="2100" b="1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</a:t>
            </a:r>
            <a:r>
              <a:rPr lang="en-US" sz="2100" b="1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يومي </a:t>
            </a:r>
            <a:r>
              <a:rPr lang="en-US" sz="21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للمسار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5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 = ما تم إنجازه | اليوم = ما يتم تنفيذه الآن | غداً = ما سيتم تنفيذه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417320" y="2971800"/>
            <a:ext cx="9372600" cy="0"/>
          </a:xfrm>
          <a:prstGeom prst="line">
            <a:avLst/>
          </a:prstGeom>
          <a:noFill/>
          <a:ln w="2032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9" name="Shape 7"/>
          <p:cNvSpPr/>
          <p:nvPr/>
        </p:nvSpPr>
        <p:spPr>
          <a:xfrm>
            <a:off x="2084832" y="2816352"/>
            <a:ext cx="310896" cy="310896"/>
          </a:xfrm>
          <a:prstGeom prst="ellipse">
            <a:avLst/>
          </a:prstGeom>
          <a:solidFill>
            <a:srgbClr val="2FA65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0" name="Shape 8"/>
          <p:cNvSpPr/>
          <p:nvPr/>
        </p:nvSpPr>
        <p:spPr>
          <a:xfrm>
            <a:off x="224028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1916519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2FA65A"/>
          </a:solidFill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1763088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مستقبلي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415001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غداً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3561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سيتم إنجازه غداً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90525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2FA6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16" name="Shape 14"/>
          <p:cNvSpPr/>
          <p:nvPr/>
        </p:nvSpPr>
        <p:spPr>
          <a:xfrm>
            <a:off x="905256" y="3840480"/>
            <a:ext cx="2532888" cy="0"/>
          </a:xfrm>
          <a:prstGeom prst="line">
            <a:avLst/>
          </a:prstGeom>
          <a:noFill/>
          <a:ln w="12700">
            <a:solidFill>
              <a:srgbClr val="2FA65A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100584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559552" y="2816352"/>
            <a:ext cx="310896" cy="310896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>
              <a:solidFill>
                <a:schemeClr val="accent4">
                  <a:lumMod val="75000"/>
                </a:schemeClr>
              </a:solidFill>
              <a:highlight>
                <a:srgbClr val="808000"/>
              </a:highlight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71500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Shape 18"/>
          <p:cNvSpPr/>
          <p:nvPr/>
        </p:nvSpPr>
        <p:spPr>
          <a:xfrm>
            <a:off x="5341000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chemeClr val="accent4">
              <a:lumMod val="75000"/>
            </a:schemeClr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5234814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جاري العمل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3859576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اليوم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68136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يتم إنجازه اليوم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437997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25" name="Shape 23"/>
          <p:cNvSpPr/>
          <p:nvPr/>
        </p:nvSpPr>
        <p:spPr>
          <a:xfrm>
            <a:off x="4379976" y="3840480"/>
            <a:ext cx="253288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448056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034272" y="2816352"/>
            <a:ext cx="310896" cy="310896"/>
          </a:xfrm>
          <a:prstGeom prst="ellipse">
            <a:avLst/>
          </a:prstGeom>
          <a:solidFill>
            <a:srgbClr val="C9D3D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Shape 26"/>
          <p:cNvSpPr/>
          <p:nvPr/>
        </p:nvSpPr>
        <p:spPr>
          <a:xfrm>
            <a:off x="9189720" y="2816352"/>
            <a:ext cx="0" cy="0"/>
          </a:xfrm>
          <a:prstGeom prst="line">
            <a:avLst/>
          </a:prstGeom>
          <a:noFill/>
          <a:ln w="889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9" name="Shape 27"/>
          <p:cNvSpPr/>
          <p:nvPr/>
        </p:nvSpPr>
        <p:spPr>
          <a:xfrm>
            <a:off x="8825767" y="1737360"/>
            <a:ext cx="777240" cy="265176"/>
          </a:xfrm>
          <a:prstGeom prst="roundRect">
            <a:avLst>
              <a:gd name="adj" fmla="val 17241"/>
            </a:avLst>
          </a:prstGeom>
          <a:solidFill>
            <a:srgbClr val="C9D3D6"/>
          </a:solidFill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8612042" y="1801368"/>
            <a:ext cx="7223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مكتمل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7263957" y="21122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أمس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72517" y="2459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94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ما تم إنجازه أمس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7854696" y="35661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C9D3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أنشطة المسار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7854696" y="3840480"/>
            <a:ext cx="2532888" cy="0"/>
          </a:xfrm>
          <a:prstGeom prst="line">
            <a:avLst/>
          </a:prstGeom>
          <a:noFill/>
          <a:ln w="12700">
            <a:solidFill>
              <a:srgbClr val="C9D3D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5" name="Text 33"/>
          <p:cNvSpPr/>
          <p:nvPr/>
        </p:nvSpPr>
        <p:spPr>
          <a:xfrm>
            <a:off x="7955280" y="3895344"/>
            <a:ext cx="233172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١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٢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نشاط ٣</a:t>
            </a:r>
            <a:endParaRPr lang="en-US" sz="850" dirty="0"/>
          </a:p>
          <a:p>
            <a:pPr marL="0" indent="0" algn="r" rtl="1">
              <a:buNone/>
            </a:pPr>
            <a:r>
              <a:rPr lang="en-US" sz="85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اعتماد/تنسيق مطلوب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715000" y="5440680"/>
            <a:ext cx="0" cy="0"/>
          </a:xfrm>
          <a:prstGeom prst="line">
            <a:avLst/>
          </a:prstGeom>
          <a:noFill/>
          <a:ln w="1524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283B"/>
          </a:solidFill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12191695" cy="36576"/>
          </a:xfrm>
          <a:prstGeom prst="rect">
            <a:avLst/>
          </a:prstGeom>
          <a:solidFill>
            <a:srgbClr val="1C8D82"/>
          </a:solidFill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" name="Text 2"/>
          <p:cNvSpPr/>
          <p:nvPr/>
        </p:nvSpPr>
        <p:spPr>
          <a:xfrm>
            <a:off x="411480" y="1828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4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تقرير يومي للمسار</a:t>
            </a:r>
            <a:endParaRPr lang="en-US" sz="740" dirty="0"/>
          </a:p>
        </p:txBody>
      </p:sp>
      <p:sp>
        <p:nvSpPr>
          <p:cNvPr id="5" name="Text 3"/>
          <p:cNvSpPr/>
          <p:nvPr/>
        </p:nvSpPr>
        <p:spPr>
          <a:xfrm>
            <a:off x="2788920" y="109728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مرفقات وصور اليوم</a:t>
            </a:r>
            <a:endParaRPr lang="en-US" sz="1720" dirty="0"/>
          </a:p>
        </p:txBody>
      </p:sp>
      <p:sp>
        <p:nvSpPr>
          <p:cNvPr id="6" name="Text 4"/>
          <p:cNvSpPr/>
          <p:nvPr/>
        </p:nvSpPr>
        <p:spPr>
          <a:xfrm>
            <a:off x="630936" y="1078992"/>
            <a:ext cx="5230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C8D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 / أدلة ميدانية</a:t>
            </a:r>
            <a:endParaRPr lang="en-US" sz="1010" dirty="0"/>
          </a:p>
        </p:txBody>
      </p:sp>
      <p:sp>
        <p:nvSpPr>
          <p:cNvPr id="7" name="Shape 5"/>
          <p:cNvSpPr/>
          <p:nvPr/>
        </p:nvSpPr>
        <p:spPr>
          <a:xfrm>
            <a:off x="630936" y="1353312"/>
            <a:ext cx="5230368" cy="0"/>
          </a:xfrm>
          <a:prstGeom prst="line">
            <a:avLst/>
          </a:prstGeom>
          <a:noFill/>
          <a:ln w="12700">
            <a:solidFill>
              <a:srgbClr val="1C8D82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45720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ضع هنا صور قبل/بعد أو لقطات من الموقع أو روابط الأدلة.</a:t>
            </a:r>
            <a:endParaRPr lang="en-US" sz="1000" dirty="0"/>
          </a:p>
          <a:p>
            <a:pPr marL="0" indent="0" algn="r" rtl="1">
              <a:buNone/>
            </a:pP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١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٢</a:t>
            </a:r>
            <a:endParaRPr lang="en-US" sz="1000" dirty="0"/>
          </a:p>
          <a:p>
            <a:pPr marL="0" indent="0" algn="r" rtl="1">
              <a:buNone/>
            </a:pPr>
            <a:r>
              <a:rPr lang="en-US" sz="1000" dirty="0">
                <a:solidFill>
                  <a:srgbClr val="6677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صورة ٣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91656" y="1078992"/>
            <a:ext cx="5184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116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التوصيات المقترحة للمسار</a:t>
            </a:r>
            <a:endParaRPr lang="en-US" sz="1010" dirty="0"/>
          </a:p>
        </p:txBody>
      </p:sp>
      <p:sp>
        <p:nvSpPr>
          <p:cNvPr id="10" name="Shape 8"/>
          <p:cNvSpPr/>
          <p:nvPr/>
        </p:nvSpPr>
        <p:spPr>
          <a:xfrm>
            <a:off x="6391656" y="1353312"/>
            <a:ext cx="5184648" cy="0"/>
          </a:xfrm>
          <a:prstGeom prst="line">
            <a:avLst/>
          </a:prstGeom>
          <a:noFill/>
          <a:ln w="12700">
            <a:solidFill>
              <a:srgbClr val="116A66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1" name="Shape 9"/>
          <p:cNvSpPr/>
          <p:nvPr/>
        </p:nvSpPr>
        <p:spPr>
          <a:xfrm>
            <a:off x="6537960" y="1481328"/>
            <a:ext cx="41148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2" name="Text 10"/>
          <p:cNvSpPr/>
          <p:nvPr/>
        </p:nvSpPr>
        <p:spPr>
          <a:xfrm>
            <a:off x="6565392" y="1531620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موعد الحسم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6949440" y="1481328"/>
            <a:ext cx="187452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4" name="Text 12"/>
          <p:cNvSpPr/>
          <p:nvPr/>
        </p:nvSpPr>
        <p:spPr>
          <a:xfrm>
            <a:off x="6976872" y="1531620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القرار المطلوب</a:t>
            </a:r>
            <a:endParaRPr lang="en-US" sz="710" dirty="0"/>
          </a:p>
        </p:txBody>
      </p:sp>
      <p:sp>
        <p:nvSpPr>
          <p:cNvPr id="15" name="Shape 13"/>
          <p:cNvSpPr/>
          <p:nvPr/>
        </p:nvSpPr>
        <p:spPr>
          <a:xfrm>
            <a:off x="8823960" y="1481328"/>
            <a:ext cx="173736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6" name="Text 14"/>
          <p:cNvSpPr/>
          <p:nvPr/>
        </p:nvSpPr>
        <p:spPr>
          <a:xfrm>
            <a:off x="8851392" y="1531620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التوصية</a:t>
            </a:r>
            <a:endParaRPr lang="en-US" sz="710" dirty="0"/>
          </a:p>
        </p:txBody>
      </p:sp>
      <p:sp>
        <p:nvSpPr>
          <p:cNvPr id="17" name="Shape 15"/>
          <p:cNvSpPr/>
          <p:nvPr/>
        </p:nvSpPr>
        <p:spPr>
          <a:xfrm>
            <a:off x="10561320" y="1481328"/>
            <a:ext cx="1143000" cy="292608"/>
          </a:xfrm>
          <a:prstGeom prst="rect">
            <a:avLst/>
          </a:prstGeom>
          <a:solidFill>
            <a:srgbClr val="116A66"/>
          </a:solidFill>
          <a:ln w="4445">
            <a:solidFill>
              <a:srgbClr val="FFFFFF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18" name="Text 16"/>
          <p:cNvSpPr/>
          <p:nvPr/>
        </p:nvSpPr>
        <p:spPr>
          <a:xfrm>
            <a:off x="10588752" y="153162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7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537960" y="1773936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0" name="Text 18"/>
          <p:cNvSpPr/>
          <p:nvPr/>
        </p:nvSpPr>
        <p:spPr>
          <a:xfrm>
            <a:off x="6569964" y="1819656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949440" y="1773936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2" name="Text 20"/>
          <p:cNvSpPr/>
          <p:nvPr/>
        </p:nvSpPr>
        <p:spPr>
          <a:xfrm>
            <a:off x="6981444" y="1819656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823960" y="1773936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4" name="Text 22"/>
          <p:cNvSpPr/>
          <p:nvPr/>
        </p:nvSpPr>
        <p:spPr>
          <a:xfrm>
            <a:off x="8855964" y="1819656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0561320" y="1773936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6" name="Text 24"/>
          <p:cNvSpPr/>
          <p:nvPr/>
        </p:nvSpPr>
        <p:spPr>
          <a:xfrm>
            <a:off x="10593324" y="1819656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١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537960" y="2194560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6569964" y="2240280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949440" y="2194560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0" name="Text 28"/>
          <p:cNvSpPr/>
          <p:nvPr/>
        </p:nvSpPr>
        <p:spPr>
          <a:xfrm>
            <a:off x="6981444" y="2240280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823960" y="2194560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2" name="Text 30"/>
          <p:cNvSpPr/>
          <p:nvPr/>
        </p:nvSpPr>
        <p:spPr>
          <a:xfrm>
            <a:off x="8855964" y="2240280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0561320" y="2194560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4" name="Text 32"/>
          <p:cNvSpPr/>
          <p:nvPr/>
        </p:nvSpPr>
        <p:spPr>
          <a:xfrm>
            <a:off x="10593324" y="2240280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٢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537960" y="2615184"/>
            <a:ext cx="41148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6" name="Text 34"/>
          <p:cNvSpPr/>
          <p:nvPr/>
        </p:nvSpPr>
        <p:spPr>
          <a:xfrm>
            <a:off x="6569964" y="2660904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949440" y="2615184"/>
            <a:ext cx="187452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38" name="Text 36"/>
          <p:cNvSpPr/>
          <p:nvPr/>
        </p:nvSpPr>
        <p:spPr>
          <a:xfrm>
            <a:off x="6981444" y="2660904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823960" y="2615184"/>
            <a:ext cx="173736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0" name="Text 38"/>
          <p:cNvSpPr/>
          <p:nvPr/>
        </p:nvSpPr>
        <p:spPr>
          <a:xfrm>
            <a:off x="8855964" y="2660904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0561320" y="2615184"/>
            <a:ext cx="1143000" cy="420624"/>
          </a:xfrm>
          <a:prstGeom prst="rect">
            <a:avLst/>
          </a:prstGeom>
          <a:solidFill>
            <a:srgbClr val="FFFFFF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2" name="Text 40"/>
          <p:cNvSpPr/>
          <p:nvPr/>
        </p:nvSpPr>
        <p:spPr>
          <a:xfrm>
            <a:off x="10593324" y="2660904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٣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537960" y="3035808"/>
            <a:ext cx="41148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4" name="Text 42"/>
          <p:cNvSpPr/>
          <p:nvPr/>
        </p:nvSpPr>
        <p:spPr>
          <a:xfrm>
            <a:off x="6569964" y="3081528"/>
            <a:ext cx="34747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وقت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949440" y="3035808"/>
            <a:ext cx="187452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6" name="Text 44"/>
          <p:cNvSpPr/>
          <p:nvPr/>
        </p:nvSpPr>
        <p:spPr>
          <a:xfrm>
            <a:off x="6981444" y="3081528"/>
            <a:ext cx="181051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قرار/إجراء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8823960" y="3035808"/>
            <a:ext cx="173736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48" name="Text 46"/>
          <p:cNvSpPr/>
          <p:nvPr/>
        </p:nvSpPr>
        <p:spPr>
          <a:xfrm>
            <a:off x="8855964" y="3081528"/>
            <a:ext cx="167335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توصية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0561320" y="3035808"/>
            <a:ext cx="1143000" cy="420624"/>
          </a:xfrm>
          <a:prstGeom prst="rect">
            <a:avLst/>
          </a:prstGeom>
          <a:solidFill>
            <a:srgbClr val="F7FAFA"/>
          </a:solidFill>
          <a:ln w="5715">
            <a:solidFill>
              <a:srgbClr val="D6E0E3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0" name="Text 48"/>
          <p:cNvSpPr/>
          <p:nvPr/>
        </p:nvSpPr>
        <p:spPr>
          <a:xfrm>
            <a:off x="10593324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64" tIns="64" rIns="64" bIns="64" rtlCol="0" anchor="ctr">
            <a:normAutofit/>
          </a:bodyPr>
          <a:lstStyle/>
          <a:p>
            <a:pPr marL="0" indent="0" algn="r" rtl="1">
              <a:buNone/>
            </a:pPr>
            <a:r>
              <a:rPr lang="en-US" sz="700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٤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30936" y="5724144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en-US" sz="1010" b="1" dirty="0">
                <a:solidFill>
                  <a:srgbClr val="08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إرسال التقرير</a:t>
            </a:r>
            <a:endParaRPr lang="en-US" sz="1010" dirty="0"/>
          </a:p>
        </p:txBody>
      </p:sp>
      <p:sp>
        <p:nvSpPr>
          <p:cNvPr id="52" name="Shape 50"/>
          <p:cNvSpPr/>
          <p:nvPr/>
        </p:nvSpPr>
        <p:spPr>
          <a:xfrm>
            <a:off x="630936" y="5998464"/>
            <a:ext cx="10945368" cy="0"/>
          </a:xfrm>
          <a:prstGeom prst="line">
            <a:avLst/>
          </a:prstGeom>
          <a:noFill/>
          <a:ln w="12700">
            <a:solidFill>
              <a:srgbClr val="08283B"/>
            </a:solidFill>
            <a:prstDash val="solid"/>
          </a:ln>
        </p:spPr>
        <p:txBody>
          <a:bodyPr/>
          <a:lstStyle/>
          <a:p>
            <a:pPr algn="r" rtl="1"/>
            <a:endParaRPr lang="en-SA"/>
          </a:p>
        </p:txBody>
      </p:sp>
      <p:sp>
        <p:nvSpPr>
          <p:cNvPr id="53" name="Text 51"/>
          <p:cNvSpPr/>
          <p:nvPr/>
        </p:nvSpPr>
        <p:spPr>
          <a:xfrm>
            <a:off x="786384" y="5733287"/>
            <a:ext cx="1014984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 rtl="1">
              <a:buNone/>
            </a:pPr>
            <a:r>
              <a:rPr lang="en-US" sz="820" b="1" dirty="0">
                <a:solidFill>
                  <a:srgbClr val="24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يرسل مسؤول المسار التقرير اليومي قبل الساعة إلى مدير مكتب إدارة المشروع مع الروابط والمرفقات الداعمة.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F0F1A11D-310A-21E1-AFDC-7F96060E3066}"/>
              </a:ext>
            </a:extLst>
          </p:cNvPr>
          <p:cNvSpPr/>
          <p:nvPr/>
        </p:nvSpPr>
        <p:spPr>
          <a:xfrm>
            <a:off x="2451735" y="3155823"/>
            <a:ext cx="8915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 rtl="1">
              <a:buNone/>
            </a:pPr>
            <a:r>
              <a:rPr lang="ar-SA" sz="2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شكراً لكم ..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95297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672</Words>
  <Application>Microsoft Macintosh PowerPoint</Application>
  <PresentationFormat>شاشة عريضة</PresentationFormat>
  <Paragraphs>279</Paragraphs>
  <Slides>8</Slides>
  <Notes>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Mayadeen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نموذج التقرير اليومي لمسار التواصل والتسويق</dc:title>
  <dc:subject>KAGA Track Daily Report Template</dc:subject>
  <dc:creator>OpenAI</dc:creator>
  <cp:lastModifiedBy>musab fahad alqattan</cp:lastModifiedBy>
  <cp:revision>7</cp:revision>
  <dcterms:created xsi:type="dcterms:W3CDTF">2026-06-04T19:50:48Z</dcterms:created>
  <dcterms:modified xsi:type="dcterms:W3CDTF">2026-06-07T02:29:44Z</dcterms:modified>
</cp:coreProperties>
</file>